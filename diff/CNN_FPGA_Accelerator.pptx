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6A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096A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57200"/>
            <a:ext cx="27432" cy="3200400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914400"/>
            <a:ext cx="27432" cy="2286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74320"/>
            <a:ext cx="27432" cy="4114800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457200"/>
            <a:ext cx="457200" cy="1828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850392"/>
            <a:ext cx="640080" cy="1828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243584"/>
            <a:ext cx="822960" cy="1828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636776"/>
            <a:ext cx="457200" cy="1828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029968"/>
            <a:ext cx="640080" cy="1828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2423160"/>
            <a:ext cx="822960" cy="1828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816352"/>
            <a:ext cx="457200" cy="1828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3209544"/>
            <a:ext cx="640080" cy="1828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914400"/>
            <a:ext cx="73152" cy="2926080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914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Accelerator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48640" y="1664208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Image Processing on FPGA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48640" y="2395728"/>
            <a:ext cx="5029200" cy="27432"/>
          </a:xfrm>
          <a:prstGeom prst="rect">
            <a:avLst/>
          </a:prstGeom>
          <a:solidFill>
            <a:srgbClr val="2A5A7A"/>
          </a:solidFill>
          <a:ln w="12700">
            <a:solidFill>
              <a:srgbClr val="2A5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42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Zynq-7000 SoC (xc7z020clg484-1)  •  Hardware/Software Co-Design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063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VEMANA VENKATA PUJITHRAM — 230907016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SATVIK PRABHU — 230907178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RAM THOTTEMPUDI — 230907038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041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Institute of Technology  •  JAN – MAY 2026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28800"/>
            <a:ext cx="914400" cy="9144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223760" y="3017520"/>
            <a:ext cx="1645920" cy="502920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2237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hardware acceleration?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34747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CPU Bottleneck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require millions of MAC operations per frame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Cortex-A9 processes pixels sequentially → high latency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edge AI (drones, ADAS, cameras) demands &lt;50 ms/frame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solution exceeds power budget for embedded devices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64008" cy="3474720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Hardware Acceleration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convolution + activation to FPGA fabric (PL)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9 pixels in parallel using DSP48E1 slices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line-buffer architecture — zero stall pipeline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fixed-point: 4× lower memory bandwidth vs FP32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≥2× speedup vs. software-only   •   Platform: Xilinx Zynq-7000 SoC   •   Arithmetic: INT8 Fixed-Point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Hardware/Software Co-Design on Zynq SoC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474720" cy="3566160"/>
          </a:xfrm>
          <a:prstGeom prst="rect">
            <a:avLst/>
          </a:prstGeom>
          <a:solidFill>
            <a:srgbClr val="EAF4FB"/>
          </a:solidFill>
          <a:ln w="19050">
            <a:solidFill>
              <a:srgbClr val="A0C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34747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 –  Processing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Cortex-A9 @ 667 MHz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 &amp; preprocessing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configuration &amp; control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transfer (MM2S/S2MM)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flush / invalidate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output post-processing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printf communication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2788920"/>
            <a:ext cx="1371600" cy="73152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AXI4-Stream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6A6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6A6"/>
                </a:solidFill>
              </a:rPr>
              <a:t>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94960" y="1188720"/>
            <a:ext cx="3566160" cy="3566160"/>
          </a:xfrm>
          <a:prstGeom prst="rect">
            <a:avLst/>
          </a:prstGeom>
          <a:solidFill>
            <a:srgbClr val="E8F8F8"/>
          </a:solidFill>
          <a:ln w="19050">
            <a:solidFill>
              <a:srgbClr val="80C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3566160" cy="457200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 –  Programmable Logic (FPGA)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Accelerator IP  @  50–100 MHz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2148840"/>
            <a:ext cx="3200400" cy="475488"/>
          </a:xfrm>
          <a:prstGeom prst="rect">
            <a:avLst/>
          </a:prstGeom>
          <a:solidFill>
            <a:srgbClr val="0078A0"/>
          </a:solidFill>
          <a:ln w="12700">
            <a:solidFill>
              <a:srgbClr val="0078A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21488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Buffer + Window Gen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26243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2724912"/>
            <a:ext cx="3200400" cy="475488"/>
          </a:xfrm>
          <a:prstGeom prst="rect">
            <a:avLst/>
          </a:prstGeom>
          <a:solidFill>
            <a:srgbClr val="00866A"/>
          </a:solidFill>
          <a:ln w="12700">
            <a:solidFill>
              <a:srgbClr val="00866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27249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MAC Array (9 parallel muls)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2004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32120" y="3300984"/>
            <a:ext cx="3200400" cy="475488"/>
          </a:xfrm>
          <a:prstGeom prst="rect">
            <a:avLst/>
          </a:prstGeom>
          <a:solidFill>
            <a:srgbClr val="7B519D"/>
          </a:solidFill>
          <a:ln w="12700">
            <a:solidFill>
              <a:srgbClr val="7B519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32120" y="33009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 (INT8 saturate)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776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3877056"/>
            <a:ext cx="3200400" cy="475488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32120" y="38770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Max Pooling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32120" y="4498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Controller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Zynq-7000 integrates ARM PS + FPGA PL on a single chip — data moves via high-speed AXI interconnect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 Hierarchy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implementation — all modules and their roles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54864" cy="77724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161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config.sv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" y="1444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params: IMG_WIDTH=32, PIXEL_WIDTH=8, ACCUM_WIDTH=32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6008" y="109728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097280"/>
            <a:ext cx="54864" cy="777240"/>
          </a:xfrm>
          <a:prstGeom prst="rect">
            <a:avLst/>
          </a:prstGeom>
          <a:solidFill>
            <a:srgbClr val="0078A0"/>
          </a:solidFill>
          <a:ln w="12700">
            <a:solidFill>
              <a:srgbClr val="007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4024" y="1161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line_buffer.sv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64024" y="1444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2-row pixel cache — avoids DRAM re-reads (streaming architecture)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1938528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938528"/>
            <a:ext cx="54864" cy="777240"/>
          </a:xfrm>
          <a:prstGeom prst="rect">
            <a:avLst/>
          </a:prstGeom>
          <a:solidFill>
            <a:srgbClr val="005F7A"/>
          </a:solidFill>
          <a:ln w="12700">
            <a:solidFill>
              <a:srgbClr val="005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2002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window_generator.sv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3-deep shift registers → 3×3 window; valid_out after 2×W+2 pixels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6008" y="1938528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36008" y="1938528"/>
            <a:ext cx="54864" cy="777240"/>
          </a:xfrm>
          <a:prstGeom prst="rect">
            <a:avLst/>
          </a:prstGeom>
          <a:solidFill>
            <a:srgbClr val="00866A"/>
          </a:solidFill>
          <a:ln w="12700">
            <a:solidFill>
              <a:srgbClr val="0086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2002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mac_array_3x3.sv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parallel INT8 multipliers + adder tree → 32-bit accumulator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779776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779776"/>
            <a:ext cx="54864" cy="777240"/>
          </a:xfrm>
          <a:prstGeom prst="rect">
            <a:avLst/>
          </a:prstGeom>
          <a:solidFill>
            <a:srgbClr val="7B519D"/>
          </a:solidFill>
          <a:ln w="12700">
            <a:solidFill>
              <a:srgbClr val="7B51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2843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relu_activation.sv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" y="3127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 check: clamp negative→0, saturate positive→127, output INT8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36008" y="2779776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2779776"/>
            <a:ext cx="54864" cy="777240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2843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max_pool_2x2.sv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64024" y="3127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tree: max of 2×2 patch; registered synchronous output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621024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621024"/>
            <a:ext cx="54864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" y="3685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cnn_controller.sv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6616" y="39684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FSM: IDLE → BUFFER_FILL → CONV_STREAM; drives en_mac/relu/pool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36008" y="3621024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36008" y="3621024"/>
            <a:ext cx="54864" cy="777240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3685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cnn_accelerator_top.sv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64024" y="39684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Top-level: wires all sub-modules; hardcoded Sobel {1,0,−1,2,0,−2,1,0,−1}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4681728"/>
            <a:ext cx="8686800" cy="2926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tb_cnn.sv: 100 MHz testbench, 5×5 image, XSim sim (495 ns)  |  + cnn_axi_wrapper.v: AXI4-Stream shell, TLAST@899px → see Slide 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Architecture — Line Buffer &amp; Window Generator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3931920" cy="411480"/>
          </a:xfrm>
          <a:prstGeom prst="rect">
            <a:avLst/>
          </a:prstGeom>
          <a:solidFill>
            <a:srgbClr val="0078A0"/>
          </a:solidFill>
          <a:ln w="12700">
            <a:solidFill>
              <a:srgbClr val="007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line_buffer.sv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2 rows of pixels (32 pixels each) in flip-flop arrays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valid_in clock: shifts pixel_in → line1, old line1 → line2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pointer (col) wraps at IMG_WIDTH=32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line1_out and line2_out every cycle — no stalls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Stream → Row 0  (current)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Row 1  (line1 — 1 row ago)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Row 2  (line2 — 2 rows ago)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4160520"/>
            <a:ext cx="402336" cy="137160"/>
          </a:xfrm>
          <a:prstGeom prst="rect">
            <a:avLst/>
          </a:prstGeom>
          <a:solidFill>
            <a:srgbClr val="0096C7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" y="4160520"/>
            <a:ext cx="402336" cy="137160"/>
          </a:xfrm>
          <a:prstGeom prst="rect">
            <a:avLst/>
          </a:prstGeom>
          <a:solidFill>
            <a:srgbClr val="0096C7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2728" y="4160520"/>
            <a:ext cx="402336" cy="137160"/>
          </a:xfrm>
          <a:prstGeom prst="rect">
            <a:avLst/>
          </a:prstGeom>
          <a:solidFill>
            <a:srgbClr val="0096C7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4160520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93976" y="4160520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4160520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35224" y="4160520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4160520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416052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</a:rPr>
              <a:t>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4315968"/>
            <a:ext cx="402336" cy="137160"/>
          </a:xfrm>
          <a:prstGeom prst="rect">
            <a:avLst/>
          </a:prstGeom>
          <a:solidFill>
            <a:srgbClr val="48CAE4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" y="4315968"/>
            <a:ext cx="402336" cy="137160"/>
          </a:xfrm>
          <a:prstGeom prst="rect">
            <a:avLst/>
          </a:prstGeom>
          <a:solidFill>
            <a:srgbClr val="48CAE4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2728" y="4315968"/>
            <a:ext cx="402336" cy="137160"/>
          </a:xfrm>
          <a:prstGeom prst="rect">
            <a:avLst/>
          </a:prstGeom>
          <a:solidFill>
            <a:srgbClr val="48CAE4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73352" y="4315968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93976" y="4315968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4315968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35224" y="4315968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55848" y="4315968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431596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</a:rPr>
              <a:t>…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471416"/>
            <a:ext cx="402336" cy="137160"/>
          </a:xfrm>
          <a:prstGeom prst="rect">
            <a:avLst/>
          </a:prstGeom>
          <a:solidFill>
            <a:srgbClr val="90E0EF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" y="4471416"/>
            <a:ext cx="402336" cy="137160"/>
          </a:xfrm>
          <a:prstGeom prst="rect">
            <a:avLst/>
          </a:prstGeom>
          <a:solidFill>
            <a:srgbClr val="90E0EF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2728" y="4471416"/>
            <a:ext cx="402336" cy="137160"/>
          </a:xfrm>
          <a:prstGeom prst="rect">
            <a:avLst/>
          </a:prstGeom>
          <a:solidFill>
            <a:srgbClr val="90E0EF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73352" y="4471416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93976" y="4471416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14600" y="4471416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35224" y="4471416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55848" y="4471416"/>
            <a:ext cx="402336" cy="137160"/>
          </a:xfrm>
          <a:prstGeom prst="rect">
            <a:avLst/>
          </a:prstGeom>
          <a:solidFill>
            <a:srgbClr val="E0EFF5"/>
          </a:solidFill>
          <a:ln w="6350">
            <a:solidFill>
              <a:srgbClr val="AACC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447141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</a:rPr>
              <a:t>…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active 3-col window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34840" y="1143000"/>
            <a:ext cx="44805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34840" y="1143000"/>
            <a:ext cx="4480560" cy="411480"/>
          </a:xfrm>
          <a:prstGeom prst="rect">
            <a:avLst/>
          </a:prstGeom>
          <a:solidFill>
            <a:srgbClr val="005F7A"/>
          </a:solidFill>
          <a:ln w="12700">
            <a:solidFill>
              <a:srgbClr val="005F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1143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window_generator.sv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0" y="164592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3-deep shift registers (shift0/shift1/shift2) — one per row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clock: new pixel enters shift[0]; older pixels shift right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2×IMG_WIDTH + 2 pixels, outputs a valid 3×3 window every cycle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all DRAM latency — pure on-chip streaming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0" y="3291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Output Window  →  mac_array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3657600"/>
            <a:ext cx="621792" cy="347472"/>
          </a:xfrm>
          <a:prstGeom prst="rect">
            <a:avLst/>
          </a:prstGeom>
          <a:solidFill>
            <a:srgbClr val="0078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65760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p[0]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04688" y="3657600"/>
            <a:ext cx="621792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04688" y="365760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p[1]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63056" y="3657600"/>
            <a:ext cx="621792" cy="347472"/>
          </a:xfrm>
          <a:prstGeom prst="rect">
            <a:avLst/>
          </a:prstGeom>
          <a:solidFill>
            <a:srgbClr val="48CA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63056" y="365760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p[2]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4041648"/>
            <a:ext cx="621792" cy="347472"/>
          </a:xfrm>
          <a:prstGeom prst="rect">
            <a:avLst/>
          </a:prstGeom>
          <a:solidFill>
            <a:srgbClr val="005F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404164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p[3]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504688" y="4041648"/>
            <a:ext cx="621792" cy="347472"/>
          </a:xfrm>
          <a:prstGeom prst="rect">
            <a:avLst/>
          </a:prstGeom>
          <a:solidFill>
            <a:srgbClr val="0078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04688" y="404164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p[4]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63056" y="4041648"/>
            <a:ext cx="621792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63056" y="404164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p[5]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46320" y="4425696"/>
            <a:ext cx="621792" cy="347472"/>
          </a:xfrm>
          <a:prstGeom prst="rect">
            <a:avLst/>
          </a:prstGeom>
          <a:solidFill>
            <a:srgbClr val="003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4425696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p[6]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04688" y="4425696"/>
            <a:ext cx="621792" cy="347472"/>
          </a:xfrm>
          <a:prstGeom prst="rect">
            <a:avLst/>
          </a:prstGeom>
          <a:solidFill>
            <a:srgbClr val="005F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04688" y="4425696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p[7]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63056" y="4425696"/>
            <a:ext cx="621792" cy="347472"/>
          </a:xfrm>
          <a:prstGeom prst="rect">
            <a:avLst/>
          </a:prstGeom>
          <a:solidFill>
            <a:srgbClr val="0078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63056" y="4425696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p[8]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8463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(9 pixels every clock once pipeline full)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Computation Datapath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Array → ReLU Activation → 2×2 Max Pooling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880360" cy="3611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880360" cy="457200"/>
          </a:xfrm>
          <a:prstGeom prst="rect">
            <a:avLst/>
          </a:prstGeom>
          <a:solidFill>
            <a:srgbClr val="00866A"/>
          </a:solidFill>
          <a:ln w="12700">
            <a:solidFill>
              <a:srgbClr val="0086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mac_array_3x3.sv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Parallel Multipliers + Adder Tree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38528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signed INT8×INT8 multiplications in parallel (combinational)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summed in synchronous 32-bit accumulator (ACCUM_WIDTH)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overflow during summation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Sobel edge kernel: {1,0,−1, 2,0,−2, 1,0,−1}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mac_out[31:0], valid_out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" y="4059936"/>
            <a:ext cx="2724912" cy="457200"/>
          </a:xfrm>
          <a:prstGeom prst="rect">
            <a:avLst/>
          </a:prstGeom>
          <a:solidFill>
            <a:srgbClr val="00866A"/>
          </a:solidFill>
          <a:ln w="12700">
            <a:solidFill>
              <a:srgbClr val="00866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" y="4059936"/>
            <a:ext cx="27249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 = Σ(pixel[i] × weight[i])  for i = 0..8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26517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5A7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880360" cy="3611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2880360" cy="457200"/>
          </a:xfrm>
          <a:prstGeom prst="rect">
            <a:avLst/>
          </a:prstGeom>
          <a:solidFill>
            <a:srgbClr val="7B519D"/>
          </a:solidFill>
          <a:ln w="12700">
            <a:solidFill>
              <a:srgbClr val="7B51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97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relu_activation.sv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Activation + INT8 Quantization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938528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MSB (bit 31) of 32-bit MAC output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→ output 0  (ReLU: y = max(0, x))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&gt; 127 → saturate to 8'd127 (max signed INT8)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≤ 127 → truncate mac_in[7:0]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relu_out[7:0], valid_out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9272" y="4059936"/>
            <a:ext cx="2724912" cy="457200"/>
          </a:xfrm>
          <a:prstGeom prst="rect">
            <a:avLst/>
          </a:prstGeom>
          <a:solidFill>
            <a:srgbClr val="7B519D"/>
          </a:solidFill>
          <a:ln w="12700">
            <a:solidFill>
              <a:srgbClr val="7B519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19272" y="4059936"/>
            <a:ext cx="27249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0 if mac&lt;0  |  min(mac, 127) if mac≥0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26517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5A7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1097280"/>
            <a:ext cx="2880360" cy="3611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097280"/>
            <a:ext cx="2880360" cy="457200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097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max_pool_2x2.sv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1600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Down-sampling by 2×2 Max Pooling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1938528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4 INT8 pixels from a 2×2 spatial region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combinational comparator tree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max_1 = max(pool_in[0], pool_in[1])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max_2 = max(pool_in[2], pool_in[3])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pool_out = max(max_1, max_2) — registered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36792" y="4059936"/>
            <a:ext cx="2724912" cy="457200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36792" y="4059936"/>
            <a:ext cx="27249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32×32 input → 30×30 conv → 15×15 pooled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stages registered on posedge clk — fully pipelined. ReLU skips max_pool in current top-level (pixel_out direct from ReLU)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Path — Finite State Machine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cnn_controller.sv: IDLE → BUFFER_FILL → CONV_STREAM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54480"/>
            <a:ext cx="1737360" cy="1737360"/>
          </a:xfrm>
          <a:prstGeom prst="oval">
            <a:avLst/>
          </a:prstGeom>
          <a:solidFill>
            <a:srgbClr val="455A6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start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from 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1737360" cy="1737360"/>
          </a:xfrm>
          <a:prstGeom prst="oval">
            <a:avLst/>
          </a:prstGeom>
          <a:solidFill>
            <a:srgbClr val="0078A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BUFFER_FILL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3383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line buffers;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window_valid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1554480"/>
            <a:ext cx="1737360" cy="1737360"/>
          </a:xfrm>
          <a:prstGeom prst="oval">
            <a:avLst/>
          </a:prstGeom>
          <a:solidFill>
            <a:srgbClr val="00866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554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CONV_STREAM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383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active: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en_mac = en_relu = en_pool =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2340864"/>
            <a:ext cx="1097280" cy="54864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057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=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6A6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0" y="2340864"/>
            <a:ext cx="1097280" cy="54864"/>
          </a:xfrm>
          <a:prstGeom prst="rect">
            <a:avLst/>
          </a:prstGeom>
          <a:solidFill>
            <a:srgbClr val="00866A"/>
          </a:solidFill>
          <a:ln w="12700">
            <a:solidFill>
              <a:srgbClr val="008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057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window_valid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866A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1828800"/>
            <a:ext cx="1828800" cy="45720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!window_valid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0690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Output Logic (Combinational)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4434840"/>
          <a:ext cx="5486400" cy="384048"/>
        </p:xfrm>
        <a:graphic>
          <a:graphicData uri="http://schemas.openxmlformats.org/drawingml/2006/table">
            <a:tbl>
              <a:tblPr/>
              <a:tblGrid>
                <a:gridCol w="1828800"/>
                <a:gridCol w="1216152"/>
                <a:gridCol w="1216152"/>
                <a:gridCol w="1216152"/>
              </a:tblGrid>
              <a:tr h="96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State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en_mac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en_relu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</a:rPr>
                        <a:t>en_pool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96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IDLE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96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BUFFER_FILL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96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CONV_STREAM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Integration &amp; Block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cnn_axi_wrapper.v bridges the custom CNN IP to the Zynq AXI fabric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1645920" cy="914400"/>
          </a:xfrm>
          <a:prstGeom prst="rect">
            <a:avLst/>
          </a:prstGeom>
          <a:solidFill>
            <a:srgbClr val="1B3A5C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Cortex-A9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645920" cy="914400"/>
          </a:xfrm>
          <a:prstGeom prst="rect">
            <a:avLst/>
          </a:prstGeom>
          <a:solidFill>
            <a:srgbClr val="1565C0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(Xilinx)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9080" y="1280160"/>
            <a:ext cx="1737360" cy="914400"/>
          </a:xfrm>
          <a:prstGeom prst="rect">
            <a:avLst/>
          </a:prstGeom>
          <a:solidFill>
            <a:srgbClr val="0096A6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69080" y="1280160"/>
            <a:ext cx="1737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AXI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1737360" cy="914400"/>
          </a:xfrm>
          <a:prstGeom prst="rect">
            <a:avLst/>
          </a:prstGeom>
          <a:solidFill>
            <a:srgbClr val="00866A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280160"/>
            <a:ext cx="1737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822960" cy="914400"/>
          </a:xfrm>
          <a:prstGeom prst="rect">
            <a:avLst/>
          </a:prstGeom>
          <a:solidFill>
            <a:srgbClr val="5D4037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1280160"/>
            <a:ext cx="822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1719072"/>
            <a:ext cx="274320" cy="4572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1234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94760" y="1719072"/>
            <a:ext cx="274320" cy="4572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234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06440" y="1719072"/>
            <a:ext cx="228600" cy="4572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12344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72400" y="1719072"/>
            <a:ext cx="274320" cy="4572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1234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242316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423160"/>
            <a:ext cx="411480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4231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— Transfer Flow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27889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S2MM (receive) channel — RxBuffer[900] ready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Start MM2S (transmit) channel — push TxBuffer[1024]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Poll XAXIDMA_DEVICE_TO_DMA and DMA_TO_DEVICE busy flags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D-cache flush before TX, invalidate before RX read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4343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423160"/>
            <a:ext cx="4343400" cy="329184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4231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cnn_axi_wrapper.v — Key Details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27889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s_axis_tready hardwired HIGH — always accepts pixels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m_axis_tvalid = valid_out from CNN accelerator top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TLAST asserted at 899th output pixel (900 total)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counter resets after each full frame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3886200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Design IP Cores: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2245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System 7 (PS7)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AXI Wrapper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Smart Connect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Mem Interconnect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Sys Reset (50 MHz)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XLConcat (IRQs)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— ARM Cortex-A9 (main_app.c)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C application running on the Processing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2057400" cy="1627632"/>
          </a:xfrm>
          <a:prstGeom prst="rect">
            <a:avLst/>
          </a:prstGeom>
          <a:solidFill>
            <a:srgbClr val="FAFAFA"/>
          </a:solidFill>
          <a:ln w="12700">
            <a:solidFill>
              <a:srgbClr val="D0DA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261872"/>
            <a:ext cx="384048" cy="384048"/>
          </a:xfrm>
          <a:prstGeom prst="oval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AXI DMA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XAxiDma_LookupConfig + CfgInitialize; disable all IRQs (polling mode)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170432"/>
            <a:ext cx="2057400" cy="1627632"/>
          </a:xfrm>
          <a:prstGeom prst="rect">
            <a:avLst/>
          </a:prstGeom>
          <a:solidFill>
            <a:srgbClr val="FAFAFA"/>
          </a:solidFill>
          <a:ln w="12700">
            <a:solidFill>
              <a:srgbClr val="D0DA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261872"/>
            <a:ext cx="384048" cy="384048"/>
          </a:xfrm>
          <a:prstGeom prst="oval">
            <a:avLst/>
          </a:prstGeom>
          <a:solidFill>
            <a:srgbClr val="0078A0"/>
          </a:solidFill>
          <a:ln w="12700">
            <a:solidFill>
              <a:srgbClr val="007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Image to TxBuffer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10312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test_image[1024] into TxBuffer[1024] byte-by-byte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170432"/>
            <a:ext cx="2057400" cy="1627632"/>
          </a:xfrm>
          <a:prstGeom prst="rect">
            <a:avLst/>
          </a:prstGeom>
          <a:solidFill>
            <a:srgbClr val="FAFAFA"/>
          </a:solidFill>
          <a:ln w="12700">
            <a:solidFill>
              <a:srgbClr val="D0DA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7448" y="1261872"/>
            <a:ext cx="384048" cy="384048"/>
          </a:xfrm>
          <a:prstGeom prst="oval">
            <a:avLst/>
          </a:prstGeom>
          <a:solidFill>
            <a:srgbClr val="005F7A"/>
          </a:solidFill>
          <a:ln w="12700">
            <a:solidFill>
              <a:srgbClr val="005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RxBuffer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10312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Zero-fill RxBuffer[900] — prevents reading stale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170432"/>
            <a:ext cx="2057400" cy="1627632"/>
          </a:xfrm>
          <a:prstGeom prst="rect">
            <a:avLst/>
          </a:prstGeom>
          <a:solidFill>
            <a:srgbClr val="FAFAFA"/>
          </a:solidFill>
          <a:ln w="12700">
            <a:solidFill>
              <a:srgbClr val="D0DA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22008" y="1261872"/>
            <a:ext cx="384048" cy="384048"/>
          </a:xfrm>
          <a:prstGeom prst="oval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D-Cache Flush (TX &amp; RX)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10312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Xil_DCacheFlushRange — ensures DMA reads updated physical RAM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999232"/>
            <a:ext cx="2057400" cy="1627632"/>
          </a:xfrm>
          <a:prstGeom prst="rect">
            <a:avLst/>
          </a:prstGeom>
          <a:solidFill>
            <a:srgbClr val="FAFAFA"/>
          </a:solidFill>
          <a:ln w="12700">
            <a:solidFill>
              <a:srgbClr val="D0DA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" y="3090672"/>
            <a:ext cx="384048" cy="384048"/>
          </a:xfrm>
          <a:prstGeom prst="oval">
            <a:avLst/>
          </a:prstGeom>
          <a:solidFill>
            <a:srgbClr val="00866A"/>
          </a:solidFill>
          <a:ln w="12700">
            <a:solidFill>
              <a:srgbClr val="0086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" y="35295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S2MM then MM2S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93192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channel starts first; then transmit pushes 1024 bytes into FPGA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23160" y="2999232"/>
            <a:ext cx="2057400" cy="1627632"/>
          </a:xfrm>
          <a:prstGeom prst="rect">
            <a:avLst/>
          </a:prstGeom>
          <a:solidFill>
            <a:srgbClr val="FAFAFA"/>
          </a:solidFill>
          <a:ln w="12700">
            <a:solidFill>
              <a:srgbClr val="D0DA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32888" y="3090672"/>
            <a:ext cx="384048" cy="384048"/>
          </a:xfrm>
          <a:prstGeom prst="oval">
            <a:avLst/>
          </a:prstGeom>
          <a:solidFill>
            <a:srgbClr val="7B519D"/>
          </a:solidFill>
          <a:ln w="12700">
            <a:solidFill>
              <a:srgbClr val="7B519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288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14600" y="35295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Until Complete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14600" y="393192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XAxiDma_Busy() loop on both channels; waits for HW to finish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999232"/>
            <a:ext cx="2057400" cy="1627632"/>
          </a:xfrm>
          <a:prstGeom prst="rect">
            <a:avLst/>
          </a:prstGeom>
          <a:solidFill>
            <a:srgbClr val="FAFAFA"/>
          </a:solidFill>
          <a:ln w="12700">
            <a:solidFill>
              <a:srgbClr val="D0DA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27448" y="3090672"/>
            <a:ext cx="384048" cy="384048"/>
          </a:xfrm>
          <a:prstGeom prst="oval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09160" y="35295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 Cache (RX)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393192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Xil_DCacheInvalidateRange — forces CPU to fetch fresh data from DRAM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12280" y="2999232"/>
            <a:ext cx="2057400" cy="1627632"/>
          </a:xfrm>
          <a:prstGeom prst="rect">
            <a:avLst/>
          </a:prstGeom>
          <a:solidFill>
            <a:srgbClr val="FAFAFA"/>
          </a:solidFill>
          <a:ln w="12700">
            <a:solidFill>
              <a:srgbClr val="D0DA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22008" y="3090672"/>
            <a:ext cx="384048" cy="384048"/>
          </a:xfrm>
          <a:prstGeom prst="oval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35295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ASCII 30×30 Grid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03720" y="393192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pixel&gt;60 → ##  |  pixel&gt;20 → ++  |  else → spaces (UART terminal)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input (1024 B) → 30×30 output (900 B)  |  Input: image_data.h  |  Output: UART ASCII art edge map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Verification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XSim Behavioral Simulation — tb_cnn.sv testbench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402336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Setup (tb_cnn.sv)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749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Clock: 100 MHz (10 ns period)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reset at startup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signal asserted on clock 5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image: 5×5 hardcoded array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object (0x20=32) on dark background (0x0A=10)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streamed serially into pixel_in port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completes at 495 ns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valid_out monitored to capture pixel_out stream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143000"/>
            <a:ext cx="4434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143000"/>
            <a:ext cx="4434840" cy="384048"/>
          </a:xfrm>
          <a:prstGeom prst="rect">
            <a:avLst/>
          </a:prstGeom>
          <a:solidFill>
            <a:srgbClr val="00866A"/>
          </a:solidFill>
          <a:ln w="12700">
            <a:solidFill>
              <a:srgbClr val="008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430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Observations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627632"/>
            <a:ext cx="4160520" cy="438912"/>
          </a:xfrm>
          <a:prstGeom prst="rect">
            <a:avLst/>
          </a:prstGeom>
          <a:solidFill>
            <a:srgbClr val="F0FFF8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642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/ reset: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Properly initialize system at t=0; reset de-asserts on cycle 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2139696"/>
            <a:ext cx="4160520" cy="438912"/>
          </a:xfrm>
          <a:prstGeom prst="rect">
            <a:avLst/>
          </a:prstGeom>
          <a:solidFill>
            <a:srgbClr val="FAFAF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76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pixel_in bus: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3591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hex values (0x0a=10, 0x20=32) streamed sequentially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2651760"/>
            <a:ext cx="4160520" cy="438912"/>
          </a:xfrm>
          <a:prstGeom prst="rect">
            <a:avLst/>
          </a:prstGeom>
          <a:solidFill>
            <a:srgbClr val="F0FFF8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6883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window_valid: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8712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after 2×5+2=12 pixels — exactly when 3×3 window is full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3163824"/>
            <a:ext cx="4160520" cy="438912"/>
          </a:xfrm>
          <a:prstGeom prst="rect">
            <a:avLst/>
          </a:prstGeom>
          <a:solidFill>
            <a:srgbClr val="FAFAF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2004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transition: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33832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BUFFER_FILL on start; → CONV_STREAM on window_valid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3675888"/>
            <a:ext cx="4160520" cy="438912"/>
          </a:xfrm>
          <a:prstGeom prst="rect">
            <a:avLst/>
          </a:prstGeom>
          <a:solidFill>
            <a:srgbClr val="F0FFF8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124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pixel_out / valid_out: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38953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appears after pipeline latency; correct ReLU clamping observed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4187952"/>
            <a:ext cx="4160520" cy="438912"/>
          </a:xfrm>
          <a:prstGeom prst="rect">
            <a:avLst/>
          </a:prstGeom>
          <a:solidFill>
            <a:srgbClr val="FAFAF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224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X/Z states: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44074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unknown or high-impedance in CONV_STREAM — proves stable pipeline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Vivado 2025.2 XSim  •  Behavioral Simulation  •  sim_1 / tb_cnn  •  Run time: 1000 ns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Arithmetic &amp; Design Parameters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strategy and key configuration values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411480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config.sv Parameters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72768"/>
          <a:ext cx="4023360" cy="2633472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PIXEL_WIDTH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8 bits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INT8 pixel / activation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WEIGHT_WIDTH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8 bits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INT8 kernel weights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ACCUM_WIDTH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32 bits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Overflow-safe accumulator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IMG_WIDTH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 image columns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IMG_HEIGHT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 image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Conv output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30×30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No padding, stride=1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TX bytes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1024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32×32 grayscale 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RX bytes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30×30 conv output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0" y="1143000"/>
            <a:ext cx="4343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143000"/>
            <a:ext cx="4343400" cy="38404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1430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INT8 Fixed-Point?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09160" y="161848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Memory Bandwidth Reduction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09160" y="18288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requires 1 byte vs FP32's 4 bytes — critical for BRAM efficiency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09160" y="211226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DSP48E1 Optimization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232257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Zynq DSP slices natively handle 18×18 signed integer multiply in one clock cycle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09160" y="26060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Accuracy Loss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09160" y="28163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by Tiny-YOLO research — negligible for edge detection tasks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09160" y="309981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Accumulator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09160" y="33101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two INT8 = 16-bit; summing 9 products needs 32-bit to prevent overflow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3547872"/>
            <a:ext cx="8686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8600" y="3547872"/>
            <a:ext cx="8686800" cy="347472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8600" y="3547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Convolution Kernel (Sobel-style Edge Detection)  —  cnn_accelerator_top.sv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474720" y="3977640"/>
            <a:ext cx="713232" cy="228600"/>
          </a:xfrm>
          <a:prstGeom prst="rect">
            <a:avLst/>
          </a:prstGeom>
          <a:solidFill>
            <a:srgbClr val="0089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0" y="39776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206240" y="3977640"/>
            <a:ext cx="713232" cy="228600"/>
          </a:xfrm>
          <a:prstGeom prst="rect">
            <a:avLst/>
          </a:prstGeom>
          <a:solidFill>
            <a:srgbClr val="455A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06240" y="39776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937760" y="3977640"/>
            <a:ext cx="713232" cy="228600"/>
          </a:xfrm>
          <a:prstGeom prst="rect">
            <a:avLst/>
          </a:prstGeom>
          <a:solidFill>
            <a:srgbClr val="7B519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0" y="39776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474720" y="4233672"/>
            <a:ext cx="713232" cy="228600"/>
          </a:xfrm>
          <a:prstGeom prst="rect">
            <a:avLst/>
          </a:prstGeom>
          <a:solidFill>
            <a:srgbClr val="00AA8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74720" y="423367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206240" y="4233672"/>
            <a:ext cx="713232" cy="228600"/>
          </a:xfrm>
          <a:prstGeom prst="rect">
            <a:avLst/>
          </a:prstGeom>
          <a:solidFill>
            <a:srgbClr val="455A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06240" y="423367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937760" y="4233672"/>
            <a:ext cx="713232" cy="228600"/>
          </a:xfrm>
          <a:prstGeom prst="rect">
            <a:avLst/>
          </a:prstGeom>
          <a:solidFill>
            <a:srgbClr val="9A4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37760" y="423367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474720" y="4489704"/>
            <a:ext cx="713232" cy="228600"/>
          </a:xfrm>
          <a:prstGeom prst="rect">
            <a:avLst/>
          </a:prstGeom>
          <a:solidFill>
            <a:srgbClr val="0089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74720" y="44897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206240" y="4489704"/>
            <a:ext cx="713232" cy="228600"/>
          </a:xfrm>
          <a:prstGeom prst="rect">
            <a:avLst/>
          </a:prstGeom>
          <a:solidFill>
            <a:srgbClr val="455A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06240" y="44897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937760" y="4489704"/>
            <a:ext cx="713232" cy="228600"/>
          </a:xfrm>
          <a:prstGeom prst="rect">
            <a:avLst/>
          </a:prstGeom>
          <a:solidFill>
            <a:srgbClr val="7B519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937760" y="44897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806440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vertical edges — strong response at horizontal intensity transitions in the 32×32 test image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91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429000"/>
          </a:xfrm>
          <a:prstGeom prst="rect">
            <a:avLst/>
          </a:prstGeom>
          <a:solidFill>
            <a:srgbClr val="091828"/>
          </a:solidFill>
          <a:ln w="15240">
            <a:solidFill>
              <a:srgbClr val="009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0096A6"/>
          </a:solidFill>
          <a:ln w="12700">
            <a:solidFill>
              <a:srgbClr val="009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What We Achieved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pipelined CNN accelerator in SystemVerilog (zero-stall streaming)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FSM controller with clean state transitions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9-parallel MAC array with 32-bit accumulator (no overflow)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ReLU with saturation clamping to 127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AXI4-Stream interface (cnn_axi_wrapper.v) for DMA integration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PS/PL co-design on Zynq-7000 platform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simulation verified in Vivado XSim (495 ns)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C software with proper cache management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3429000"/>
          </a:xfrm>
          <a:prstGeom prst="rect">
            <a:avLst/>
          </a:prstGeom>
          <a:solidFill>
            <a:srgbClr val="091828"/>
          </a:solidFill>
          <a:ln w="15240">
            <a:solidFill>
              <a:srgbClr val="C07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C07000"/>
          </a:solidFill>
          <a:ln w="12700">
            <a:solidFill>
              <a:srgbClr val="C07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CNN with 16/32 feature maps per layer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deep network (Conv → Pool → Conv → Pool → FC)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weight storage using BRAM (ping-pong buffers)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input via MIPI CSI-2 or USB UVC driver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DMA (replace polling mode)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measure actual FPS vs. ARM software baseline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place-route — measure LUT / DSP / BRAM usage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deployment: Petalinux + V4L2 camera pipeline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3579B60A167A488F3FB86E71449426" ma:contentTypeVersion="12" ma:contentTypeDescription="Create a new document." ma:contentTypeScope="" ma:versionID="d8f9c81fd371b488717e078315ad9a8f">
  <xsd:schema xmlns:xsd="http://www.w3.org/2001/XMLSchema" xmlns:xs="http://www.w3.org/2001/XMLSchema" xmlns:p="http://schemas.microsoft.com/office/2006/metadata/properties" xmlns:ns2="662f2aa7-f11c-4f15-80ba-5d7ab9fb7d7e" xmlns:ns3="c2132daf-9c90-4f98-afe8-44d9d237f948" targetNamespace="http://schemas.microsoft.com/office/2006/metadata/properties" ma:root="true" ma:fieldsID="b656cfe130770de88bb2b3979a0c79f1" ns2:_="" ns3:_="">
    <xsd:import namespace="662f2aa7-f11c-4f15-80ba-5d7ab9fb7d7e"/>
    <xsd:import namespace="c2132daf-9c90-4f98-afe8-44d9d237f94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f2aa7-f11c-4f15-80ba-5d7ab9fb7d7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ca7166d-de03-4c3e-865e-07adad3d8b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132daf-9c90-4f98-afe8-44d9d237f94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7d438c08-0dd3-4fbf-ace0-53de4cd535c1}" ma:internalName="TaxCatchAll" ma:showField="CatchAllData" ma:web="c2132daf-9c90-4f98-afe8-44d9d237f9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2132daf-9c90-4f98-afe8-44d9d237f948" xsi:nil="true"/>
    <lcf76f155ced4ddcb4097134ff3c332f xmlns="662f2aa7-f11c-4f15-80ba-5d7ab9fb7d7e">
      <Terms xmlns="http://schemas.microsoft.com/office/infopath/2007/PartnerControls"/>
    </lcf76f155ced4ddcb4097134ff3c332f>
    <ReferenceId xmlns="662f2aa7-f11c-4f15-80ba-5d7ab9fb7d7e" xsi:nil="true"/>
  </documentManagement>
</p:properties>
</file>

<file path=customXml/itemProps1.xml><?xml version="1.0" encoding="utf-8"?>
<ds:datastoreItem xmlns:ds="http://schemas.openxmlformats.org/officeDocument/2006/customXml" ds:itemID="{74E49B4F-233D-4A5A-9DB0-18E9E9585006}"/>
</file>

<file path=customXml/itemProps2.xml><?xml version="1.0" encoding="utf-8"?>
<ds:datastoreItem xmlns:ds="http://schemas.openxmlformats.org/officeDocument/2006/customXml" ds:itemID="{EE893A04-75B3-4F06-BB0A-8A502EB452B1}"/>
</file>

<file path=customXml/itemProps3.xml><?xml version="1.0" encoding="utf-8"?>
<ds:datastoreItem xmlns:ds="http://schemas.openxmlformats.org/officeDocument/2006/customXml" ds:itemID="{EAC0D4F6-04C7-4591-85FA-D76EC9C85CE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Lightweight CNN Accelerator for Real-Time Image Processing on FPGA</dc:title>
  <dc:subject>PptxGenJS Presentation</dc:subject>
  <dc:creator>PptxGenJS</dc:creator>
  <cp:lastModifiedBy>PptxGenJS</cp:lastModifiedBy>
  <cp:revision>1</cp:revision>
  <dcterms:created xsi:type="dcterms:W3CDTF">2026-04-22T21:58:34Z</dcterms:created>
  <dcterms:modified xsi:type="dcterms:W3CDTF">2026-04-22T21:58:34Z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0x010100A03579B60A167A488F3FB86E71449426</vt:lpwstr>
  </property>
</Properties>
</file>